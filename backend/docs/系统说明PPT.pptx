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各位老师好！我们小组的课程设计题目是《校园二手物品交易系统》。这是一个面向在校师生的闲置物品交易平台，采用 Spring Boot 加 Vue 3 的前后端分离架构。下面我将从项目概述、技术架构、功能演示、数据库设计、测试质量以及部署总结六个部分进行汇报。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共分六个部分：第一部分介绍项目背景、目标和系统角色；第二部分讲解技术选型和系统架构；第三部分是重点，进行用户端和管理端的功能界面演示；第四部分介绍数据库和接口设计；第五部分汇报测试与质量情况；最后是部署说明和项目总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接下来进入第 01 部分：项目概述。Project Overview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看项目背景。高校里每到毕业季和开学季，都会产生大量闲置物品。但传统线下跳蚤市场时间固定、信息传播有限，而社会二手平台又缺少校园内部的信任感。针对这些痛点，我们的解决思路是搭建一个校园专属的线上交易平台：用学号注册保证用户真实身份，用分类搜索提高匹配效率，用站内消息和评价体系建立信任，再加上举报和管理员审核机制保障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建设目标有四个：第一是便捷交易，让学生随时随地发布和浏览二手商品；第二是形成交易闭环，从发布、浏览、沟通到评价、举报，链路完整；第三是后台管控，管理员可以管理用户、商品、分类和举报；第四是技术目标，实践前后端分离、RESTful 接口、JPA 持久化和自动化测试等主流技术。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系统有两类角色。普通用户通过学号注册，可以发布商品、浏览搜索、收藏、发消息、评价和举报。管理员负责平台运营，包括查看统计数据、按学号查找用户、禁用违规账号、下架商品、导出 CSV、维护分类和处理举报。两类角色登录入口分离，权限由前端路由守卫和后端接口共同保障。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接下来进入第 02 部分：技术架构。Technical Architecture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技术选型方面：前端使用 Vue 3 组合式 API，配合 Vite 构建工具实现秒级热更新，UI 使用 Element Plus 组件库，HTTP 请求用 Axios 并做了统一拦截封装。后端使用 Spring Boot 3.4.5，持久层采用 Spring Data JPA，数据库是 MySQL 8.0。测试体系采用 JUnit 5、Mockito 和 JaCoCo。整个技术栈都是当前企业开发的主流选择。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系统采用经典三层架构。表现层是 Vue 3 单页应用，包含 11 个页面和 41 个 API 封装函数，通过路由守卫区分用户和管理员。应用层是 Spring Boot 后端，包含 10 个 Controller 共 39 个 REST 接口，使用 9 个 JPA Repository 操作数据库。数据层是 MySQL，共 8 张表，由 JPA 自动建表。前后端通过 HTTP JSON 通信，所有响应统一包装为 Result 结构，前端开发时由 Vite 代理解决跨域。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工程结构清晰：后端按标准 Spring Boot 分层，controller 是接口层，entity 是 JPA 实体，repository 是数据访问层，common 里放统一响应封装，测试代码 10 个类 71 个用例。前端按功能组织，api 目录集中管理 41 个接口函数，views 分为用户端 7 个页面和管理端 4 个页面，router 里配置了角色守卫，vite 配置文件把 /api 请求代理到后端 8080 端口。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接下来进入第 03 部分：功能展示。Function Demonstration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用户端共 7 大功能模块：认证模块支持注册登录，注册时校验用户名和学号唯一；工作台展示四类统计卡片和商品推荐；商品广场支持分类、成色筛选和关键词搜索；商品详情页集成收藏、联系卖家、评价、回复和举报；发布页表单完整，提交后自动上架；我的页面可以编辑资料和管理自己的商品；站内信支持收发件箱和未读提醒。下面逐页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首先是登录页面。页面顶部可以切换普通用户和管理员两种角色，下方提供演示账号一键填入功能。登录时后端校验密码 MD5 摘要，密码错误或账号被禁用都会给出明确提示；前端路由守卫会阻止未登录用户访问内部页面。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登录成功后进入用户工作台。顶部是四张统计卡片，分别显示我发布的商品数、收藏数、收到的评价数和未读消息数；中间是发布闲置、商品广场等快捷入口；下方是最新商品推荐流。所有数据在进入页面时并发请求后端接口实时加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广场是买家最常用的页面。左侧支持按教材书籍、电子产品等分类筛选，也可以按成色过滤；顶部搜索框支持标题关键词模糊搜索。列表采用游标分页，滚动到底部自动加载下一页，商品卡片上清晰展示价格、原价和成色标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点击发布闲置进入发布页面。分类下拉框从后端动态加载，成色提供五档选择，价格和原价都有表单校验。提交时后端自动将商品状态设为在售，发布成功后商品立即出现在商品广场和个人商品列表中。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我的页面集中管理个人信息和商品。上半部分可以编辑头像、邮箱、电话和学校；下半部分是我发布的商品列表，可以对商品改价、下架或删除；还能查看我的收藏。页面同时展示收藏数和收到的评价数。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管理端共 4 大模块：运营仪表盘展示用户数、商品数、管理员数和待处理举报数；商品管理支持下架、删除和 CSV 导出；分类管理用弹窗实现新增和删除；用户管理支持模糊搜索和学号精确查找，可以禁用违规账号；举报处理支持审核并联动下架商品。下面逐页演示。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管理员登录后进入运营仪表盘。顶部四张卡片实时统计用户总数、商品总数、管理员数和待处理举报数；下方左侧是待处理举报列表，可以直接跳转处理；右侧是最新发布的商品动态，方便管理员快速掌握平台运营状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户管理页展示全部注册用户。顶部支持关键词模糊搜索，还专门提供了按学号精确查找的输入框——这是为校园场景设计的功能，管理员输入学号即可定位特定学生。每行可以切换账号状态，被禁用的用户将无法登录，前端列表即时刷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商品管理页是管理端功能最丰富的页面：支持多条件筛选搜索，可以修改或删除商品，对违规商品可以强制下架；点击导出 CSV 按钮会下载包含全部商品信息的表格文件；点击分类管理可以在弹窗中新增或删除商品分类。这些功能在本次开发中均已完成联调验证。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接下来进入第 04 部分：数据库与接口。Database &amp; API Design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数据库名为 campus_second_hand，共 8 张表。用户表对用户名和学号建唯一约束，密码存 MD5 摘要；商品表通过外键关联用户和分类，status 字段标记在售或下架，view_count 记录浏览量；收藏表对用户和商品建联合唯一约束，从数据库层面防止重复收藏；评价表同时关联评价人和被评价人，支持卖家回复；消息表记录收发双方和已读状态。表结构由 JPA 自动创建，种子数据由 data.sql 初始化。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体关系方面：用户和商品是一对多关系，一个用户可以发布多个商品；分类和商品也是一对多；用户和商品之间通过收藏表形成多对多关系；评价表关联用户和商品，一个商品可以有多条评价；消息表在用户之间形成双向关联；举报表关联商品，一个商品可以被多次举报。所有关系通过外键和 JPA 关联映射维护。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接口设计遵循 RESTful 规范，共 39 个接口，按 10 个模块组织。商品模块最多有 8 个接口，包括游标分页和 CSV 导出；消息模块 5 个，支持收件箱、发件箱和未读数统计。所有接口返回统一的 Result 结构。前端封装了 41 个 API 函数与后端 100% 对接，11 个页面全部完成接入，后端还内置了可视化接口控制台方便联调。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接下来进入第 05 部分：测试与质量。Testing &amp; Quality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测试体系包含四个维度，共 109 项测试，107 项通过，总体通过率 98.2%。功能测试 20 项全部通过，覆盖正常流程和异常分支；性能测试 8 项，100 并发压测下商品详情接口 TPS 达到 350 且零错误；安全测试 10 项，SQL 注入和 XSS 等高危攻击都被拦截；单元测试 71 个用例，整体覆盖率 59%，核心认证模块达到 97%。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安全测试参考 OWASP Top 10 基线。SQL 注入方面，JPA 使用参数化查询，注入载荷只会被当作普通字符串，攻击无效；XSS 方面，Vue 插值自动转义，脚本不会执行；越权访问由前端路由守卫和后端校验共同拦截；敏感信息方面，密码字段用 JsonIgnore 排除，异常不暴露堆栈。发现的问题是登录接口缺少暴力破解防护，已记录为中危缺陷并列入下一版本迭代计划。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接下来进入第 06 部分：部署与总结。Deployment &amp; Summary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部署非常简单。后端只需要 JDK 21 和 MySQL，先创建数据库，表结构由 JPA 自动创建并导入种子数据，然后运行 mvnw spring-boot:run，服务在 8080 端口。前端需要 Node.js 环境，执行 npm install 和 npm run dev 后访问 5173 端口，Vite 已经配置好代理转发。系统内置四个演示账号：管理员 admin，以及张三、李四、王五三个用户，密码都是 123456。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项目成果方面：我们完整实现了二手交易的业务闭环，工程上包含 10 个 Controller、39 个接口和 11 个页面，前后端对接率 100%；质量保障方面，71 个单元测试加 109 项系统测试，通过率 98.2%。当然项目还有可以完善的地方，比如登录防暴力破解和 JWT 鉴权，已经列入下一版本计划。通过这次课程设计，我们完整实践了从需求分析、数据库设计、前后端开发到测试部署的全栈开发流程。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我的汇报到此结束，感谢各位老师的聆听，敬请批评指正！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-2560320"/>
            <a:ext cx="6400800" cy="64008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206240"/>
            <a:ext cx="5029200" cy="50292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554480"/>
            <a:ext cx="1280160" cy="1097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783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spc="3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课程设计项目答辩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1560" y="237744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097280" y="3520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7FB0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Second-hand Trading System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097280" y="443484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44988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443484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44988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0" y="443484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0" y="449884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97280" y="500176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50657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383280" y="500176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50657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0" y="5001768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5065776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API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97280" y="594360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汇报人：（班级 + 组号 + 姓名）        2026 年 9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汇报目录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181051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93852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96596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96596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项目背景、建设目标与系统角色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341071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53872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6596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965960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技术选型、系统架构与工程结构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7548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01091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13892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96596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965960" y="5532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用户端与管理端功能界面演示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46520" y="15544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675120" y="181051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193852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772400" y="1828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数据库与接口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772400" y="2331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数据表设计与 RESTful 接口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46520" y="31546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75120" y="341071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675120" y="353872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772400" y="34290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7772400" y="3931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功能/性能/安全/单元测试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446520" y="47548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675120" y="5010912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675120" y="5138928"/>
            <a:ext cx="868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772400" y="50292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部署与总结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7772400" y="5532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运行部署说明与项目总结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128016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606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项目概述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项目背景与痛点    · 建设目标    · 系统角色分析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项目概述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项目背景与痛点分析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现实痛点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77240" y="231343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185416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高校每年毕业季、开学季产生大量闲置物品：教材、电子产品、生活用品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300984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172968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线下跳蚤市场时间固定、地点受限，信息传播范围小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288536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160520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大型社会二手平台面向全社会，缺少校园场景的信任感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77240" y="5276088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5148072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买卖双方沟通不便，商品成色、价格缺乏透明对比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6263640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6135624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闲置资源浪费，学生买卖需求长期得不到高效匹配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141732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53796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解决思路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37960" y="231343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2185416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搭建校园专属线上二手交易平台，学号注册确保用户身份真实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537960" y="3300984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0" y="3172968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分类浏览 + 关键词搜索 + 成色筛选，快速找到目标商品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537960" y="4288536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66560" y="4160520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站内消息直接沟通，交易后互评建立信用体系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537960" y="5276088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66560" y="5148072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 + 管理员审核机制，保障平台交易安全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537960" y="6263640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6135624"/>
            <a:ext cx="4709160" cy="105338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 7×24 小时可用，打破时间地点限制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项目概述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项目建设目标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554480"/>
            <a:ext cx="128016" cy="19659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1783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210312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便捷交易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103120" y="24231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学生可随时随地发布、浏览、搜索二手商品，收藏心仪物品并与卖家沟通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554480"/>
            <a:ext cx="128016" cy="196596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78308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7772400" y="18745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交易闭环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72400" y="242316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 → 浏览 → 收藏沟通 → 成交评价 → 违规举报，完整业务链路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794760"/>
            <a:ext cx="128016" cy="1965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0233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210312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后台管控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103120" y="46634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管理员进行用户管理、商品下架、分类维护、举报处理与运营统计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37947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794760"/>
            <a:ext cx="128016" cy="19659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40233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777240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技术实践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772400" y="46634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实践前后端分离架构、RESTful API、JPA 数据持久化与自动化测试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  项目概述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系统角色与权限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463040"/>
            <a:ext cx="52578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572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👤  普通用户（买家 / 卖家）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240487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2276856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学号 + 用户名注册，个人资料维护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2971800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2843784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发布商品（分类、成色、价格、描述）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3538728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410712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浏览广场：分类/成色筛选、关键词搜索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14400" y="4105656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3977640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收藏商品、站内信联系卖家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14400" y="46725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143000" y="4544568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交易后发表评价、查看卖家回复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14400" y="523951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111496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发现违规商品可一键举报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1463040"/>
            <a:ext cx="5257800" cy="4663440"/>
          </a:xfrm>
          <a:prstGeom prst="roundRect">
            <a:avLst>
              <a:gd name="adj" fmla="val 1961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1463040"/>
            <a:ext cx="5257800" cy="6400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157276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  管理员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583680" y="2404872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6812280" y="2276856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运营仪表盘：用户/商品/举报数据统计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2971800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2843784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用户管理：模糊搜索、按学号精确查找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0" y="3538728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6812280" y="3410712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账号管控：一键启用 / 禁用违规用户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4105656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6812280" y="3977640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商品管理：下架、删除、CSV 数据导出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4672584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6812280" y="4544568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分类管理：新增、删除商品分类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583680" y="5239512"/>
            <a:ext cx="91440" cy="9144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8" name="Text 36"/>
          <p:cNvSpPr/>
          <p:nvPr/>
        </p:nvSpPr>
        <p:spPr>
          <a:xfrm>
            <a:off x="6812280" y="5111496"/>
            <a:ext cx="4526280" cy="9070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举报处理：审核举报并联动下架商品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128016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606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Technical Architecture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技术选型    · 三层架构    · 工程结构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技术架构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技术选型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35608" y="17373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1435608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2920" y="26517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前端框架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29535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2644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组合式 API，响应式单页应用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55848" y="150876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88536" y="17373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4288536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355848" y="26517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29535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Vite 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493008" y="32644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秒级热更新，开发代理配置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08776" y="150876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41464" y="17373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7141464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208776" y="26517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UI 组件库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08776" y="29535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Element Plus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345936" y="32644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表格/表单/弹窗等成熟组件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061704" y="150876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994392" y="173736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9994392" y="187452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9061704" y="26517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61704" y="295351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198864" y="32644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请求封装与统一响应拦截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2920" y="3840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435608" y="40690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DC2626"/>
          </a:solidFill>
          <a:ln/>
        </p:spPr>
      </p:sp>
      <p:sp>
        <p:nvSpPr>
          <p:cNvPr id="35" name="Text 33"/>
          <p:cNvSpPr/>
          <p:nvPr/>
        </p:nvSpPr>
        <p:spPr>
          <a:xfrm>
            <a:off x="1435608" y="4206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502920" y="4983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后端框架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52852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3.4.5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0080" y="55961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自动装配，内嵌 Tomcat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355848" y="3840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88536" y="40690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</p:sp>
      <p:sp>
        <p:nvSpPr>
          <p:cNvPr id="41" name="Text 39"/>
          <p:cNvSpPr/>
          <p:nvPr/>
        </p:nvSpPr>
        <p:spPr>
          <a:xfrm>
            <a:off x="4288536" y="4206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3355848" y="4983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持久层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355848" y="52852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Data JPA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3493008" y="55961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Hibernate ORM，方法名派生查询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208776" y="3840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141464" y="40690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sp>
        <p:nvSpPr>
          <p:cNvPr id="47" name="Text 45"/>
          <p:cNvSpPr/>
          <p:nvPr/>
        </p:nvSpPr>
        <p:spPr>
          <a:xfrm>
            <a:off x="7141464" y="4206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</a:t>
            </a:r>
            <a:endParaRPr lang="en-US" sz="2600" dirty="0"/>
          </a:p>
        </p:txBody>
      </p:sp>
      <p:sp>
        <p:nvSpPr>
          <p:cNvPr id="48" name="Text 46"/>
          <p:cNvSpPr/>
          <p:nvPr/>
        </p:nvSpPr>
        <p:spPr>
          <a:xfrm>
            <a:off x="6208776" y="4983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208776" y="52852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345936" y="55961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InnoDB 引擎，utf8mb4 字符集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061704" y="3840480"/>
            <a:ext cx="26974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994392" y="4069080"/>
            <a:ext cx="822960" cy="82296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/>
        </p:spPr>
      </p:sp>
      <p:sp>
        <p:nvSpPr>
          <p:cNvPr id="53" name="Text 51"/>
          <p:cNvSpPr/>
          <p:nvPr/>
        </p:nvSpPr>
        <p:spPr>
          <a:xfrm>
            <a:off x="9994392" y="42062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</a:t>
            </a:r>
            <a:endParaRPr lang="en-US" sz="2600" dirty="0"/>
          </a:p>
        </p:txBody>
      </p:sp>
      <p:sp>
        <p:nvSpPr>
          <p:cNvPr id="54" name="Text 52"/>
          <p:cNvSpPr/>
          <p:nvPr/>
        </p:nvSpPr>
        <p:spPr>
          <a:xfrm>
            <a:off x="9061704" y="498348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测试体系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9061704" y="528523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JUnit5 + Mockito + JaCoCo</a:t>
            </a:r>
            <a:endParaRPr lang="en-US" sz="1500" dirty="0"/>
          </a:p>
        </p:txBody>
      </p:sp>
      <p:sp>
        <p:nvSpPr>
          <p:cNvPr id="56" name="Text 54"/>
          <p:cNvSpPr/>
          <p:nvPr/>
        </p:nvSpPr>
        <p:spPr>
          <a:xfrm>
            <a:off x="9198864" y="559612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单元测试与覆盖率分析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技术架构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系统三层架构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544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554480"/>
            <a:ext cx="352044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表现层（前端）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19659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SPA · Element Plus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263347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50545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个页面视图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338785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25983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 个 API 函数封装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22960" y="414223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01421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Router 角色守卫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22960" y="4896612"/>
            <a:ext cx="91440" cy="914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1051560" y="476859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Axios 拦截器统一处理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70832" y="15544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BFDBFE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0832" y="1554480"/>
            <a:ext cx="3520440" cy="6858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4370832" y="16459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应用层（后端）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370832" y="19659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Spring Boot · :8080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90872" y="263347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4919472" y="250545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个 Controller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90872" y="338785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4919472" y="325983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 个 RESTful 接口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690872" y="414223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4919472" y="401421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个 JPA Repository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690872" y="4896612"/>
            <a:ext cx="91440" cy="9144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4919472" y="476859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 Result 响应结构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229600" y="15544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93C5FD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229600" y="1554480"/>
            <a:ext cx="3520440" cy="6858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0" y="164592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29600" y="196596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E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49640" y="2633472"/>
            <a:ext cx="91440" cy="9144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38" name="Text 36"/>
          <p:cNvSpPr/>
          <p:nvPr/>
        </p:nvSpPr>
        <p:spPr>
          <a:xfrm>
            <a:off x="8778240" y="250545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张业务数据表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549640" y="3387852"/>
            <a:ext cx="91440" cy="9144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0" name="Text 38"/>
          <p:cNvSpPr/>
          <p:nvPr/>
        </p:nvSpPr>
        <p:spPr>
          <a:xfrm>
            <a:off x="8778240" y="325983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JPA 自动建表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549640" y="4142232"/>
            <a:ext cx="91440" cy="9144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2" name="Text 40"/>
          <p:cNvSpPr/>
          <p:nvPr/>
        </p:nvSpPr>
        <p:spPr>
          <a:xfrm>
            <a:off x="8778240" y="401421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HikariCP 连接池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549640" y="4896612"/>
            <a:ext cx="91440" cy="91440"/>
          </a:xfrm>
          <a:prstGeom prst="ellipse">
            <a:avLst/>
          </a:prstGeom>
          <a:solidFill>
            <a:srgbClr val="0F2A5E"/>
          </a:solidFill>
          <a:ln/>
        </p:spPr>
      </p:sp>
      <p:sp>
        <p:nvSpPr>
          <p:cNvPr id="44" name="Text 42"/>
          <p:cNvSpPr/>
          <p:nvPr/>
        </p:nvSpPr>
        <p:spPr>
          <a:xfrm>
            <a:off x="8778240" y="4768596"/>
            <a:ext cx="2697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MD5 密码摘要存储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3611880" y="3063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 / JSON （Vite 代理 /api → :8080）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7406640" y="30632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JPA / Hibernate （SQL）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1463040" y="5394960"/>
            <a:ext cx="9235440" cy="777240"/>
          </a:xfrm>
          <a:prstGeom prst="roundRect">
            <a:avLst>
              <a:gd name="adj" fmla="val 1176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1645920" y="55778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统一响应规范：{ "code": 200, "message": "success", "data": {...} }    ——    code=200 成功 / 404 资源不存在 / 500 业务错误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  技术架构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工程结构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name="adj" fmla="val 192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campus-backend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148840"/>
            <a:ext cx="5029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src/main/java/com/campus/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controller/      10 个控制器（接口层）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entity/          9 个 JPA 实体类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repository/      9 个数据访问接口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dto/             登录/注册请求对象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common/          Result 统一响应封装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util/            Md5Util 密码加密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src/main/resources/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application.properties   数据源配置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data.sql                 种子演示数据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src/test/                     10 个测试类 / 71 用例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pom.xml                       Maven 依赖 + JaCoCo 插件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1463040"/>
            <a:ext cx="5394960" cy="4754880"/>
          </a:xfrm>
          <a:prstGeom prst="roundRect">
            <a:avLst>
              <a:gd name="adj" fmla="val 1923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exam-tutor-frontend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83680" y="2148840"/>
            <a:ext cx="493776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api/index.js     41 个 API 函数（9 大模块）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views/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user/        7 个用户端页面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HomeView      工作台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MarketView    商品广场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ItemDetail    商品详情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PublishView   发布商品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...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admin/       4 个管理端页面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Dashboard     仪表盘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ItemsView     商品管理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...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router/          路由 + 角色守卫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main.js          应用入口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vite.config.js     /api 代理 → 127.0.0.1:8080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128016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606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功能展示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Function Demonstration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用户端 7 大模块    · 管理端 4 大模块    · 真实系统界面演示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用户端功能全景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417320"/>
            <a:ext cx="1097280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49047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🔐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5270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认证模块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200400" y="153619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注册（用户名/学号唯一校验）、登录（用户/管理员分流）、禁用账号拦截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2112264"/>
            <a:ext cx="10972800" cy="603504"/>
          </a:xfrm>
          <a:prstGeom prst="roundRect">
            <a:avLst>
              <a:gd name="adj" fmla="val 1515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218541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🏠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22219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223113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我的发布/收藏/评价/未读消息统计卡片、快捷入口、最新商品推荐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807208"/>
            <a:ext cx="1097280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2960" y="28803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291693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商品广场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200400" y="2926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分类筛选、成色筛选、关键词搜索、游标分页无限加载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3502152"/>
            <a:ext cx="10972800" cy="603504"/>
          </a:xfrm>
          <a:prstGeom prst="roundRect">
            <a:avLst>
              <a:gd name="adj" fmla="val 1515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3575304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361188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200400" y="3621024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商品信息、浏览量+1、收藏、联系卖家、评价列表、卖家回复、举报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4197096"/>
            <a:ext cx="1097280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27024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430682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发布商品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200400" y="431596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分类下拉、成色选择、价格/原价录入，提交自动上架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0080" y="4892040"/>
            <a:ext cx="10972800" cy="603504"/>
          </a:xfrm>
          <a:prstGeom prst="roundRect">
            <a:avLst>
              <a:gd name="adj" fmla="val 15152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4965192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463040" y="50017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200400" y="501091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资料编辑（邮箱/电话/学校/头像）、商品改价/下架/删除、我的收藏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40080" y="5586984"/>
            <a:ext cx="10972800" cy="603504"/>
          </a:xfrm>
          <a:prstGeom prst="roundRect">
            <a:avLst>
              <a:gd name="adj" fmla="val 15152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22960" y="5660136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463040" y="56967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站内信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3200400" y="570585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收件箱/发件箱、未读消息角标、一键标记已读、按商品关联会话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 · 用户端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登录与注册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763524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pic>
        <p:nvPicPr>
          <p:cNvPr id="10" name="Image 0" descr="c:\Users\李恩泽\AppData\Local\Temp\trae\screenshots\01-login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40011"/>
            <a:ext cx="7315200" cy="4118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37160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426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功能要点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21579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0299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管理员双角色切换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58200" y="2980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85292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演示账号一键填入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367588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登录失败友好提示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58200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9884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禁用账号登录拦截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58200" y="5449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532180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路由守卫自动跳转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 · 用户端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用户工作台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763524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pic>
        <p:nvPicPr>
          <p:cNvPr id="10" name="Image 0" descr="c:\Users\李恩泽\AppData\Local\Temp\trae\screenshots\02-user-home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40011"/>
            <a:ext cx="7315200" cy="4118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37160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426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功能要点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21579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0299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发布/收藏/评价/未读 4 张统计卡片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58200" y="2980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85292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快捷入口一键直达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367588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最新商品卡片推荐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58200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9884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未读消息实时角标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58200" y="5449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532180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个性化数据概览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 · 用户端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商品广场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763524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pic>
        <p:nvPicPr>
          <p:cNvPr id="10" name="Image 0" descr="c:\Users\李恩泽\AppData\Local\Temp\trae\screenshots\03-market-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40011"/>
            <a:ext cx="7315200" cy="4118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37160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426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功能要点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21579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0299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按商品分类筛选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58200" y="2980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85292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按成色（全新/九成新等）筛选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367588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标题关键词模糊搜索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58200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9884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游标分页滚动加载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58200" y="5449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532180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卡片展示价格与成色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 · 用户端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发布商品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763524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pic>
        <p:nvPicPr>
          <p:cNvPr id="10" name="Image 0" descr="c:\Users\李恩泽\AppData\Local\Temp\trae\screenshots\04-publish-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40011"/>
            <a:ext cx="7315200" cy="4118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37160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426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功能要点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21579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0299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分类下拉动态加载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58200" y="2980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85292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成色五档选择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367588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售价 / 原价录入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58200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9884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表单校验与提示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58200" y="5449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532180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提交后自动上架（status=1）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 · 用户端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我的页面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763524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pic>
        <p:nvPicPr>
          <p:cNvPr id="10" name="Image 0" descr="c:\Users\李恩泽\AppData\Local\Temp\trae\screenshots\05-user-m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40011"/>
            <a:ext cx="7315200" cy="4118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37160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426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功能要点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21579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0299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头像 / 邮箱 / 电话 / 学校编辑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58200" y="2980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85292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我发布的商品列表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367588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商品改价、下架、删除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58200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9884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我的收藏集中管理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58200" y="5449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532180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收藏数 / 评价数展示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管理端功能全景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40080" y="1508760"/>
            <a:ext cx="10972800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508760"/>
            <a:ext cx="128016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65506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16276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运营仪表盘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49040" y="1655064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用户数 / 商品数 / 管理员数 / 待处理举报数四大指标，最新商品与待办列表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441448"/>
            <a:ext cx="10972800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441448"/>
            <a:ext cx="128016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58775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2560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49040" y="2587752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商品列表筛选搜索、修改、删除、强制下架、一键导出 CSV 清单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374136"/>
            <a:ext cx="10972800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374136"/>
            <a:ext cx="128016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5204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📁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349300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分类管理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749040" y="352044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弹窗式分类列表，支持新增分类与删除分类，即时生效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306824"/>
            <a:ext cx="10972800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4306824"/>
            <a:ext cx="128016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453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600200" y="44256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3749040" y="4453128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模糊搜索 + 按学号精确查找，账号一键启用 / 禁用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5239512"/>
            <a:ext cx="10972800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5239512"/>
            <a:ext cx="128016" cy="80467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538581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🚩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600200" y="535838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举报处理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3749040" y="5385816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举报列表按状态筛选，审核通过/驳回，可联动下架违规商品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 · 管理端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运营仪表盘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763524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pic>
        <p:nvPicPr>
          <p:cNvPr id="10" name="Image 0" descr="c:\Users\李恩泽\AppData\Local\Temp\trae\screenshots\06-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40011"/>
            <a:ext cx="7315200" cy="4118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37160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426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功能要点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21579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0299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/ 商品 / 管理员 / 举报 四项统计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58200" y="2980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85292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待处理举报快捷列表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367588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最新发布商品动态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58200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9884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数据实时聚合计算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58200" y="5449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532180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管理员待办一目了然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 · 管理端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763524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pic>
        <p:nvPicPr>
          <p:cNvPr id="10" name="Image 0" descr="c:\Users\李恩泽\AppData\Local\Temp\trae\screenshots\07-admin-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40011"/>
            <a:ext cx="7315200" cy="4118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37160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426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功能要点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21579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0299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全部注册用户列表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58200" y="2980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85292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 / 学号 / 学校展示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367588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关键词模糊搜索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58200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9884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按学号精确查找用户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58200" y="5449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532180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账号状态切换（启用/禁用）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  功能展示 · 管理端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商品管理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" y="1371600"/>
            <a:ext cx="7635240" cy="4892040"/>
          </a:xfrm>
          <a:prstGeom prst="roundRect">
            <a:avLst>
              <a:gd name="adj" fmla="val 186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pic>
        <p:nvPicPr>
          <p:cNvPr id="10" name="Image 0" descr="c:\Users\李恩泽\AppData\Local\Temp\trae\screenshots\08-admin-ite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40011"/>
            <a:ext cx="7315200" cy="411864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229600" y="1371600"/>
            <a:ext cx="3566160" cy="4892040"/>
          </a:xfrm>
          <a:prstGeom prst="roundRect">
            <a:avLst>
              <a:gd name="adj" fmla="val 256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229600" y="1371600"/>
            <a:ext cx="356616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0" y="14264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功能要点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458200" y="215798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202996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商品多条件筛选与搜索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458200" y="298094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7" name="Text 14"/>
          <p:cNvSpPr/>
          <p:nvPr/>
        </p:nvSpPr>
        <p:spPr>
          <a:xfrm>
            <a:off x="8686800" y="285292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商品信息修改与删除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458200" y="380390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0" y="367588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违规商品强制下架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458200" y="462686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0" y="449884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一键导出 CSV 报表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458200" y="5449824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3" name="Text 20"/>
          <p:cNvSpPr/>
          <p:nvPr/>
        </p:nvSpPr>
        <p:spPr>
          <a:xfrm>
            <a:off x="8686800" y="5321808"/>
            <a:ext cx="292608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分类管理弹窗（增/删）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128016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606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数据库与接口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Database &amp; API Design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8 张数据表    · ER 关系    · 39 个 RESTful 接口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数据库与接口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数据库表设计（MySQL · 8 张表）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772668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关键字段 / 约束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E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t_user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注册用户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username 唯一、student_id 唯一、password 存 MD5、status 状态位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t_admin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管理员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独立账号体系、role 角色、status 状态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t_category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商品分类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name 分类名、sort_order 排序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t_item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user_id/category_id 外键、price 价格、condition_level 成色、status(1在售/2下架)、view_count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t_favorite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(user_id, item_id) 联合唯一约束，防止重复收藏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t_review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reviewer_id 评价人、target_user_id 被评价人、rating(1~5)、reply 卖家回复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t_message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站内消息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sender_id/receiver_id 收发件人、item_id 关联商品、is_read 已读标记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t_report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举报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reporter_id 举报人、item_id 关联商品、status(0待处理/1已处理)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60807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设计要点：JPA ddl-auto=update 自动建表，data.sql 初始化 3 名用户、1 名管理员、6 个分类与演示商品数据。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数据库与接口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实体关系（ER）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097280" y="1508760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0" y="1508760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728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t_user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t_item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58191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─── *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60120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一个用户发布多个商品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097280" y="2167128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0" y="2167128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97280" y="22585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t_category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315200" y="225856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t_item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83280" y="224028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─── *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601200" y="22768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一个分类包含多个商品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097280" y="2825496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0" y="2825496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97280" y="29169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t_user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0" y="2916936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t_item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83280" y="289864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─── *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601200" y="2935224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收藏关系（t_favorite 中间表）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1097280" y="3483864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0" y="3483864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1097280" y="35753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t_user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315200" y="3575304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t_review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83280" y="355701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─── *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9601200" y="359359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评价人 / 被评价人双外键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97280" y="4142232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0" y="4142232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097280" y="4233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t_item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315200" y="4233672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t_review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383280" y="421538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─── *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9601200" y="42519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一个商品可有多条评价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1097280" y="4800600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0" y="4800600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097280" y="4892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t_user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15200" y="4892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t_message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383280" y="48737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─── *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601200" y="491032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发件人 / 收件人双向关联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1097280" y="5458968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7315200" y="5458968"/>
            <a:ext cx="2103120" cy="530352"/>
          </a:xfrm>
          <a:prstGeom prst="roundRect">
            <a:avLst>
              <a:gd name="adj" fmla="val 17241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097280" y="5550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t_item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315200" y="555040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t_report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383280" y="553212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─── *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9601200" y="556869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一个商品可被多次举报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04  数据库与接口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RESTful 接口设计（39 个接口）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822960"/>
                <a:gridCol w="6903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模块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路径前缀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主要功能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5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认证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/api/auth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注册、登录（用户/管理员分流）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/api/users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列表、详情、按学号查询、修改信息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商品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/api/items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分页、全量、详情、CRUD、按用户查、CSV 导出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分类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/api/categories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列表、新增、删除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评价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/api/reviews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4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按用户/商品查询、发表、卖家回复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收藏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/api/favorites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我的收藏、添加、取消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消息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/api/messages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发送、收件箱、发件箱、未读数、标记已读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举报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/api/reports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提交、列表（按状态筛选）、处理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管理端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/api/admin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运营统计、用户列表/管控、商品列表/下架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/ 与 /api/health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系统信息、健康检查</a:t>
                      </a:r>
                      <a:endParaRPr lang="en-US" sz="12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41 个 API 封装函数与后端接口 100% 对接；后端内置可视化接口控制台 /api-console.html 便于联调。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128016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606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测试与质量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Testing &amp; Quality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功能测试    · 性能测试    · 安全测试    · 单元测试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测试与质量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测试体系与结果总览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1691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功能测试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30358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通过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364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正常 + 异常分支全覆盖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14630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1691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342900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性能测试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29000" y="30358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通过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20440" y="3364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&lt; 120ms · 零错误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09360" y="14630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EF2F2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1691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C262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4600" dirty="0"/>
          </a:p>
        </p:txBody>
      </p:sp>
      <p:sp>
        <p:nvSpPr>
          <p:cNvPr id="21" name="Text 19"/>
          <p:cNvSpPr/>
          <p:nvPr/>
        </p:nvSpPr>
        <p:spPr>
          <a:xfrm>
            <a:off x="630936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安全测试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30358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80% 通过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0" y="3364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 / XSS 均拦截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89720" y="1463040"/>
            <a:ext cx="2651760" cy="22860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89720" y="1691640"/>
            <a:ext cx="2651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6A34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</a:t>
            </a:r>
            <a:endParaRPr lang="en-US" sz="4600" dirty="0"/>
          </a:p>
        </p:txBody>
      </p:sp>
      <p:sp>
        <p:nvSpPr>
          <p:cNvPr id="26" name="Text 24"/>
          <p:cNvSpPr/>
          <p:nvPr/>
        </p:nvSpPr>
        <p:spPr>
          <a:xfrm>
            <a:off x="9189720" y="2651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单元测试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89720" y="30358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 通过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281160" y="33649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覆盖率 59% · 核心 97%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069080"/>
            <a:ext cx="11109960" cy="2057400"/>
          </a:xfrm>
          <a:prstGeom prst="roundRect">
            <a:avLst>
              <a:gd name="adj" fmla="val 4444"/>
            </a:avLst>
          </a:prstGeom>
          <a:solidFill>
            <a:srgbClr val="0F2A5E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总体结果：109 项测试，107 项通过，总体通过率 98.2%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822960" y="4965192"/>
            <a:ext cx="91440" cy="914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2" name="Text 30"/>
          <p:cNvSpPr/>
          <p:nvPr/>
        </p:nvSpPr>
        <p:spPr>
          <a:xfrm>
            <a:off x="1051560" y="4837176"/>
            <a:ext cx="10378440" cy="61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功能：20 项用例覆盖登录注册、商品交易、评价消息、后台管理全部业务链路及异常分支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" y="5349240"/>
            <a:ext cx="91440" cy="914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4" name="Text 32"/>
          <p:cNvSpPr/>
          <p:nvPr/>
        </p:nvSpPr>
        <p:spPr>
          <a:xfrm>
            <a:off x="1051560" y="5221224"/>
            <a:ext cx="10378440" cy="61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性能：100 并发压测商品详情 TPS 350、错误率 0%；前端首屏平均 1.8 秒；滚动 58 FPS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22960" y="5733288"/>
            <a:ext cx="91440" cy="9144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36" name="Text 34"/>
          <p:cNvSpPr/>
          <p:nvPr/>
        </p:nvSpPr>
        <p:spPr>
          <a:xfrm>
            <a:off x="1051560" y="5605272"/>
            <a:ext cx="10378440" cy="614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BEA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单元：JUnit 5 + Mockito（@WebMvcTest），含 ParameterizedTest 参数化边界值测试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05  测试与质量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安全防护验证（OWASP 基线）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11109960" cy="841248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17320"/>
            <a:ext cx="128016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508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注入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468880" y="150876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登录输入 admin' OR 1=1--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943600" y="150876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JPA 参数化查询（PreparedStatement），注入载荷仅作字符串匹配，攻击无效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241280" y="150876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已防护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377440"/>
            <a:ext cx="11109960" cy="841248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377440"/>
            <a:ext cx="128016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46888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XSS 跨站脚本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468880" y="246888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商品标题注入 &lt;script&gt;alert(1)&lt;/script&gt;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943600" y="246888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{{ }} 插值自动 HTML 转义，脚本以纯文本展示不执行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241280" y="246888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已防护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11109960" cy="841248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3337560"/>
            <a:ext cx="128016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2900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越权访问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468880" y="342900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普通用户请求 /api/admin/*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0" y="342900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路由守卫 + 后端校验，返回 403 禁止访问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241280" y="342900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已防护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297680"/>
            <a:ext cx="11109960" cy="841248"/>
          </a:xfrm>
          <a:prstGeom prst="roundRect">
            <a:avLst>
              <a:gd name="adj" fmla="val 1087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297680"/>
            <a:ext cx="128016" cy="84124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38912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敏感信息泄露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2468880" y="438912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/api/users/1 查看返回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943600" y="438912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密码字段 @JsonIgnore 排除，异常统一包装不暴露堆栈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0241280" y="438912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已防护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257800"/>
            <a:ext cx="11109960" cy="841248"/>
          </a:xfrm>
          <a:prstGeom prst="roundRect">
            <a:avLst>
              <a:gd name="adj" fmla="val 10870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5257800"/>
            <a:ext cx="128016" cy="84124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534924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暴力破解</a:t>
            </a:r>
            <a:endParaRPr lang="en-US" sz="1450" dirty="0"/>
          </a:p>
        </p:txBody>
      </p:sp>
      <p:sp>
        <p:nvSpPr>
          <p:cNvPr id="36" name="Text 34"/>
          <p:cNvSpPr/>
          <p:nvPr/>
        </p:nvSpPr>
        <p:spPr>
          <a:xfrm>
            <a:off x="2468880" y="5349240"/>
            <a:ext cx="3383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连续错误密码登录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943600" y="5349240"/>
            <a:ext cx="42062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当前无失败次数锁定机制，已记录为中危缺陷，v1.1 加入限流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0241280" y="5349240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待加固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4023360"/>
            <a:ext cx="3840480" cy="384048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86000"/>
            <a:ext cx="128016" cy="2011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2148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 06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6060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部署与总结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18872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&amp; Summary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42976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环境要求    · 启动步骤    · 项目总结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部署与总结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环境部署与启动步骤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5486400" cy="4206240"/>
          </a:xfrm>
          <a:prstGeom prst="roundRect">
            <a:avLst>
              <a:gd name="adj" fmla="val 217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463040"/>
            <a:ext cx="548640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5361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后端启动（:8080）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21945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前置：JDK 21+、MySQL 8.0+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建库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CREATE DATABASE campus_second_hand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DEFAULT CHARSET utf8mb4;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（JPA 自动建表 + data.sql 种子数据）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cd campus-backend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mvnw spring-boot:run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验证：http://127.0.0.1:8080/api/health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46304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463040"/>
            <a:ext cx="5394960" cy="5486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361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前端启动（:5173）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37960" y="219456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前置：Node.js 18+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cd exam-tutor-frontend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npm install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npm run dev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访问 http://127.0.0.1:5173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（Vite 已配置 /api 代理 → 8080）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演示账号：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管理员  admin / 123456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用户    张三 李四 王五 / 123456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5806440"/>
            <a:ext cx="11109960" cy="502920"/>
          </a:xfrm>
          <a:prstGeom prst="roundRect">
            <a:avLst>
              <a:gd name="adj" fmla="val 18182"/>
            </a:avLst>
          </a:prstGeom>
          <a:solidFill>
            <a:srgbClr val="0F2A5E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5879592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访问入口：前端 http://127.0.0.1:5173    |    后端接口控制台 http://127.0.0.1:8080/api-console.html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92608"/>
            <a:ext cx="109728" cy="5029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11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06  部署与总结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94944" y="4572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项目总结与收获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11109960" cy="3108960"/>
          </a:xfrm>
          <a:prstGeom prst="roundRect">
            <a:avLst>
              <a:gd name="adj" fmla="val 2941"/>
            </a:avLst>
          </a:prstGeom>
          <a:solidFill>
            <a:srgbClr val="F8FAFC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A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项目成果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22960" y="226771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139696"/>
            <a:ext cx="103784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完整实现二手交易业务闭环：发布 → 浏览搜索 → 收藏沟通 → 评价举报 → 后台管控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309067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962656"/>
            <a:ext cx="103784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前后端分离工程实践：10 个 Controller / 39 个接口 / 11 个页面 / 41 个 API 封装，对接率 100%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2960" y="391363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3785616"/>
            <a:ext cx="103784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质量保障扎实：71 个单元测试、109 项系统测试、通过率 98.2%，JaCoCo 覆盖率 59%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736592"/>
            <a:ext cx="91440" cy="9144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608576"/>
            <a:ext cx="10378440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特色功能：游标分页、CSV 数据导出、学号精确查找、评价卖家回复、分类动态管理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FFBEB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待完善（v1.1 计划）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542239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5294376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登录失败次数锁定与接口限流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5788152"/>
            <a:ext cx="91440" cy="914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5660136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JWT Token 鉴权替代 Session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75488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F0FDF4"/>
          </a:solidFill>
          <a:ln/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9224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技术收获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92240" y="542239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8" name="Text 26"/>
          <p:cNvSpPr/>
          <p:nvPr/>
        </p:nvSpPr>
        <p:spPr>
          <a:xfrm>
            <a:off x="6720840" y="5294376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 Spring Boot + Vue 全栈开发流程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492240" y="5788152"/>
            <a:ext cx="91440" cy="9144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5660136"/>
            <a:ext cx="470916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实践 RESTful 设计与自动化测试方法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A5E"/>
          </a:solidFill>
          <a:ln/>
        </p:spPr>
      </p:sp>
      <p:sp>
        <p:nvSpPr>
          <p:cNvPr id="3" name="Shape 1"/>
          <p:cNvSpPr/>
          <p:nvPr/>
        </p:nvSpPr>
        <p:spPr>
          <a:xfrm>
            <a:off x="8412480" y="-2286000"/>
            <a:ext cx="5943600" cy="59436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4" name="Shape 2"/>
          <p:cNvSpPr/>
          <p:nvPr/>
        </p:nvSpPr>
        <p:spPr>
          <a:xfrm>
            <a:off x="-2286000" y="4389120"/>
            <a:ext cx="5029200" cy="5029200"/>
          </a:xfrm>
          <a:prstGeom prst="ellipse">
            <a:avLst/>
          </a:prstGeom>
          <a:solidFill>
            <a:srgbClr val="16366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感谢各位老师的聆听！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敬请批评指正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184648" y="4389120"/>
            <a:ext cx="18288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FB0F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校园二手物品交易系统  ·  2026 年 9 月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校园二手物品交易系统 - 系统说明</dc:title>
  <dc:subject>PptxGenJS Presentation</dc:subject>
  <dc:creator>校园二手交易系统</dc:creator>
  <cp:lastModifiedBy>校园二手交易系统</cp:lastModifiedBy>
  <cp:revision>1</cp:revision>
  <dcterms:created xsi:type="dcterms:W3CDTF">2026-09-09T08:19:06Z</dcterms:created>
  <dcterms:modified xsi:type="dcterms:W3CDTF">2026-09-09T08:19:06Z</dcterms:modified>
</cp:coreProperties>
</file>